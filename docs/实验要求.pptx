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435" r:id="rId2"/>
    <p:sldId id="257" r:id="rId3"/>
    <p:sldId id="281" r:id="rId4"/>
    <p:sldId id="283" r:id="rId5"/>
    <p:sldId id="436" r:id="rId6"/>
    <p:sldId id="259" r:id="rId7"/>
    <p:sldId id="437" r:id="rId8"/>
    <p:sldId id="286" r:id="rId9"/>
    <p:sldId id="438" r:id="rId10"/>
    <p:sldId id="440" r:id="rId1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141" autoAdjust="0"/>
  </p:normalViewPr>
  <p:slideViewPr>
    <p:cSldViewPr>
      <p:cViewPr varScale="1">
        <p:scale>
          <a:sx n="81" d="100"/>
          <a:sy n="81" d="100"/>
        </p:scale>
        <p:origin x="175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48AC5C-8E0A-487D-A133-7495C1FE6989}" type="datetimeFigureOut">
              <a:rPr lang="zh-CN" altLang="en-US" smtClean="0"/>
              <a:pPr/>
              <a:t>2026/5/23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B36B1-A961-434D-BE3D-AFB42A7C63D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134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3B36B1-A961-434D-BE3D-AFB42A7C63D6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2026/5/23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2026/5/23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2026/5/23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2026/5/23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2026/5/23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2026/5/23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2026/5/23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实验要求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b="1" dirty="0"/>
              <a:t>实验一 ：简单爬虫（</a:t>
            </a:r>
            <a:r>
              <a:rPr lang="en-US" altLang="zh-CN" b="1" dirty="0"/>
              <a:t>6</a:t>
            </a:r>
            <a:r>
              <a:rPr lang="zh-CN" altLang="zh-CN" b="1" dirty="0"/>
              <a:t>学时）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【实验要求】</a:t>
            </a:r>
          </a:p>
          <a:p>
            <a:pPr lvl="1"/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zh-CN" altLang="zh-CN" dirty="0"/>
              <a:t>选择熟悉的语言和开发环境：</a:t>
            </a:r>
            <a:r>
              <a:rPr lang="en-US" altLang="zh-CN" dirty="0"/>
              <a:t>c</a:t>
            </a:r>
            <a:r>
              <a:rPr lang="zh-CN" altLang="zh-CN" dirty="0"/>
              <a:t>语言，</a:t>
            </a:r>
            <a:r>
              <a:rPr lang="en-US" altLang="zh-CN" dirty="0"/>
              <a:t>java</a:t>
            </a:r>
            <a:r>
              <a:rPr lang="zh-CN" altLang="zh-CN" dirty="0"/>
              <a:t>语言，</a:t>
            </a:r>
            <a:r>
              <a:rPr lang="en-US" altLang="zh-CN" dirty="0"/>
              <a:t>python</a:t>
            </a:r>
            <a:r>
              <a:rPr lang="zh-CN" altLang="zh-CN" dirty="0"/>
              <a:t>语言都可以</a:t>
            </a:r>
            <a:r>
              <a:rPr lang="zh-CN" altLang="en-US" dirty="0"/>
              <a:t>。选择</a:t>
            </a:r>
            <a:r>
              <a:rPr lang="en-US" altLang="zh-CN" dirty="0"/>
              <a:t>python</a:t>
            </a:r>
            <a:endParaRPr lang="zh-CN" altLang="zh-CN" dirty="0"/>
          </a:p>
          <a:p>
            <a:pPr lvl="1"/>
            <a:r>
              <a:rPr lang="en-US" altLang="zh-CN" dirty="0"/>
              <a:t>2</a:t>
            </a:r>
            <a:r>
              <a:rPr lang="zh-CN" altLang="zh-CN" dirty="0"/>
              <a:t>、选择合适的爬虫框架，合适的模块，开源工具</a:t>
            </a:r>
            <a:r>
              <a:rPr lang="zh-CN" altLang="en-US" dirty="0"/>
              <a:t>（不能是</a:t>
            </a:r>
            <a:r>
              <a:rPr lang="en-US" altLang="zh-CN" dirty="0"/>
              <a:t>APP</a:t>
            </a:r>
            <a:r>
              <a:rPr lang="zh-CN" altLang="en-US" dirty="0"/>
              <a:t>）。需要</a:t>
            </a:r>
            <a:r>
              <a:rPr lang="en-US" altLang="zh-CN" dirty="0"/>
              <a:t>codex</a:t>
            </a:r>
            <a:r>
              <a:rPr lang="zh-CN" altLang="en-US" dirty="0"/>
              <a:t>确定</a:t>
            </a:r>
            <a:endParaRPr lang="en-US" altLang="zh-CN" dirty="0"/>
          </a:p>
          <a:p>
            <a:pPr lvl="1"/>
            <a:r>
              <a:rPr lang="en-US" altLang="zh-CN" dirty="0"/>
              <a:t>3</a:t>
            </a:r>
            <a:r>
              <a:rPr lang="zh-CN" altLang="en-US" dirty="0"/>
              <a:t>、选择合适的网站作为爬取目标，选择豆瓣读书网站，爬取最近一年出版的书籍，包含书籍的作者、名称、类型和评分等消息。</a:t>
            </a:r>
            <a:endParaRPr lang="zh-CN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B4D11A-94F6-4231-9115-EE80EEB59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实验一 ：简单爬虫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2A4B95-4CF7-451A-BC96-54660756C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【</a:t>
            </a:r>
            <a:r>
              <a:rPr lang="zh-CN" altLang="en-US" dirty="0"/>
              <a:t>提交</a:t>
            </a:r>
            <a:r>
              <a:rPr lang="zh-CN" altLang="zh-CN" dirty="0"/>
              <a:t>】</a:t>
            </a:r>
            <a:r>
              <a:rPr lang="zh-CN" altLang="en-US" dirty="0"/>
              <a:t>你所需要交付给我的内容包含：</a:t>
            </a:r>
            <a:endParaRPr lang="zh-CN" altLang="zh-CN" dirty="0"/>
          </a:p>
          <a:p>
            <a:pPr lvl="1"/>
            <a:r>
              <a:rPr lang="zh-CN" altLang="zh-CN" dirty="0"/>
              <a:t>实验报告</a:t>
            </a:r>
            <a:endParaRPr lang="en-US" altLang="zh-CN" sz="3200" dirty="0"/>
          </a:p>
          <a:p>
            <a:pPr lvl="1"/>
            <a:r>
              <a:rPr lang="zh-CN" altLang="zh-CN" sz="2800" dirty="0"/>
              <a:t>实验代码</a:t>
            </a:r>
            <a:endParaRPr lang="en-US" altLang="zh-CN" sz="2800" dirty="0"/>
          </a:p>
          <a:p>
            <a:pPr lvl="1"/>
            <a:r>
              <a:rPr lang="zh-CN" altLang="zh-CN" sz="2800" dirty="0"/>
              <a:t>爬取的数据</a:t>
            </a:r>
            <a:endParaRPr lang="en-US" altLang="zh-CN" sz="2800" dirty="0"/>
          </a:p>
          <a:p>
            <a:pPr marL="457200" lvl="1" indent="0">
              <a:buNone/>
            </a:pPr>
            <a:r>
              <a:rPr lang="zh-CN" altLang="en-US" dirty="0"/>
              <a:t>注意：爬取的数据应该尽可能多，后续的实验</a:t>
            </a:r>
            <a:r>
              <a:rPr lang="en-US" altLang="zh-CN" dirty="0"/>
              <a:t>3</a:t>
            </a:r>
            <a:r>
              <a:rPr lang="zh-CN" altLang="en-US" dirty="0"/>
              <a:t>需要用到这批数据。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3504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A07E20-262D-435D-A0BA-3982B2B29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报告内容要求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65B9A9-0E64-4800-9C59-062925838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168"/>
          </a:xfrm>
        </p:spPr>
        <p:txBody>
          <a:bodyPr>
            <a:normAutofit/>
          </a:bodyPr>
          <a:lstStyle/>
          <a:p>
            <a:pPr marL="342900" lvl="0" indent="-342900" algn="just">
              <a:buFont typeface="+mj-ea"/>
              <a:buAutoNum type="ea1JpnKorPlain"/>
            </a:pPr>
            <a:r>
              <a:rPr lang="zh-CN" altLang="zh-CN" sz="1600" dirty="0">
                <a:effectLst/>
                <a:ea typeface="仿宋" panose="02010609060101010101" pitchFamily="49" charset="-122"/>
              </a:rPr>
              <a:t>目标网站分析</a:t>
            </a:r>
            <a:endParaRPr lang="zh-CN" altLang="zh-CN" sz="1600" dirty="0">
              <a:effectLst/>
            </a:endParaRPr>
          </a:p>
          <a:p>
            <a:pPr marL="742950" lvl="1" indent="-285750" algn="just">
              <a:buFont typeface="+mj-lt"/>
              <a:buAutoNum type="alphaLcParenR"/>
            </a:pPr>
            <a:r>
              <a:rPr lang="zh-CN" altLang="zh-CN" sz="1600" dirty="0">
                <a:effectLst/>
                <a:ea typeface="仿宋" panose="02010609060101010101" pitchFamily="49" charset="-122"/>
              </a:rPr>
              <a:t>网站名称</a:t>
            </a:r>
            <a:r>
              <a:rPr lang="en-US" altLang="zh-CN" sz="1600" dirty="0">
                <a:effectLst/>
                <a:ea typeface="仿宋" panose="02010609060101010101" pitchFamily="49" charset="-122"/>
              </a:rPr>
              <a:t>,URL</a:t>
            </a:r>
            <a:endParaRPr lang="zh-CN" altLang="zh-CN" sz="1600" dirty="0">
              <a:effectLst/>
            </a:endParaRPr>
          </a:p>
          <a:p>
            <a:pPr marL="342900" lvl="0" indent="-342900" algn="just">
              <a:buFont typeface="+mj-ea"/>
              <a:buAutoNum type="ea1JpnKorPlain"/>
            </a:pPr>
            <a:r>
              <a:rPr lang="zh-CN" altLang="zh-CN" sz="1600" dirty="0">
                <a:effectLst/>
                <a:ea typeface="仿宋" panose="02010609060101010101" pitchFamily="49" charset="-122"/>
              </a:rPr>
              <a:t>所使用开发工具</a:t>
            </a:r>
            <a:endParaRPr lang="zh-CN" altLang="zh-CN" sz="1600" dirty="0">
              <a:effectLst/>
            </a:endParaRPr>
          </a:p>
          <a:p>
            <a:pPr marL="742950" lvl="1" indent="-285750" algn="just">
              <a:buFont typeface="+mj-lt"/>
              <a:buAutoNum type="alphaLcParenR"/>
            </a:pPr>
            <a:r>
              <a:rPr lang="zh-CN" altLang="zh-CN" sz="1600" dirty="0">
                <a:effectLst/>
                <a:ea typeface="仿宋" panose="02010609060101010101" pitchFamily="49" charset="-122"/>
              </a:rPr>
              <a:t>开发语言</a:t>
            </a:r>
            <a:endParaRPr lang="zh-CN" altLang="zh-CN" sz="1600" dirty="0">
              <a:effectLst/>
            </a:endParaRPr>
          </a:p>
          <a:p>
            <a:pPr marL="742950" lvl="1" indent="-285750" algn="just">
              <a:buFont typeface="+mj-lt"/>
              <a:buAutoNum type="alphaLcParenR"/>
            </a:pPr>
            <a:r>
              <a:rPr lang="zh-CN" altLang="zh-CN" sz="1600" dirty="0">
                <a:effectLst/>
                <a:ea typeface="仿宋" panose="02010609060101010101" pitchFamily="49" charset="-122"/>
              </a:rPr>
              <a:t>使用的模块，工具</a:t>
            </a:r>
            <a:endParaRPr lang="zh-CN" altLang="zh-CN" sz="1600" dirty="0">
              <a:effectLst/>
            </a:endParaRPr>
          </a:p>
          <a:p>
            <a:pPr marL="342900" lvl="0" indent="-342900" algn="just">
              <a:buFont typeface="+mj-ea"/>
              <a:buAutoNum type="ea1JpnKorPlain"/>
            </a:pPr>
            <a:r>
              <a:rPr lang="zh-CN" altLang="zh-CN" sz="1600" dirty="0">
                <a:effectLst/>
                <a:ea typeface="仿宋" panose="02010609060101010101" pitchFamily="49" charset="-122"/>
              </a:rPr>
              <a:t>操作过程（可以通过文字和相应截图进行说明）</a:t>
            </a:r>
            <a:endParaRPr lang="zh-CN" altLang="zh-CN" sz="1600" dirty="0">
              <a:effectLst/>
            </a:endParaRPr>
          </a:p>
          <a:p>
            <a:pPr lvl="1" algn="just">
              <a:buFont typeface="+mj-lt"/>
              <a:buAutoNum type="alphaLcParenR"/>
            </a:pPr>
            <a:r>
              <a:rPr lang="zh-CN" altLang="en-US" sz="1600" dirty="0">
                <a:ea typeface="仿宋" panose="02010609060101010101" pitchFamily="49" charset="-122"/>
              </a:rPr>
              <a:t>分析</a:t>
            </a:r>
            <a:r>
              <a:rPr lang="zh-CN" altLang="zh-CN" sz="1600" dirty="0">
                <a:effectLst/>
                <a:ea typeface="仿宋" panose="02010609060101010101" pitchFamily="49" charset="-122"/>
              </a:rPr>
              <a:t>爬取目标</a:t>
            </a:r>
            <a:r>
              <a:rPr lang="zh-CN" altLang="en-US" sz="1600" dirty="0">
                <a:effectLst/>
                <a:ea typeface="仿宋" panose="02010609060101010101" pitchFamily="49" charset="-122"/>
              </a:rPr>
              <a:t>（有几类</a:t>
            </a:r>
            <a:r>
              <a:rPr lang="zh-CN" altLang="en-US" sz="1600" dirty="0">
                <a:ea typeface="仿宋" panose="02010609060101010101" pitchFamily="49" charset="-122"/>
              </a:rPr>
              <a:t>，写几类，例如</a:t>
            </a:r>
            <a:r>
              <a:rPr lang="en-US" altLang="zh-CN" sz="1600" dirty="0">
                <a:ea typeface="仿宋" panose="02010609060101010101" pitchFamily="49" charset="-122"/>
              </a:rPr>
              <a:t>《</a:t>
            </a:r>
            <a:r>
              <a:rPr lang="zh-CN" altLang="en-US" sz="1600" dirty="0">
                <a:ea typeface="仿宋" panose="02010609060101010101" pitchFamily="49" charset="-122"/>
              </a:rPr>
              <a:t>庆余年</a:t>
            </a:r>
            <a:r>
              <a:rPr lang="en-US" altLang="zh-CN" sz="1600" dirty="0">
                <a:ea typeface="仿宋" panose="02010609060101010101" pitchFamily="49" charset="-122"/>
              </a:rPr>
              <a:t>》</a:t>
            </a:r>
            <a:r>
              <a:rPr lang="zh-CN" altLang="en-US" sz="1600" dirty="0">
                <a:ea typeface="仿宋" panose="02010609060101010101" pitchFamily="49" charset="-122"/>
              </a:rPr>
              <a:t>小说例子，就有</a:t>
            </a:r>
            <a:r>
              <a:rPr lang="en-US" altLang="zh-CN" sz="1600" dirty="0">
                <a:ea typeface="仿宋" panose="02010609060101010101" pitchFamily="49" charset="-122"/>
              </a:rPr>
              <a:t>2</a:t>
            </a:r>
            <a:r>
              <a:rPr lang="zh-CN" altLang="en-US" sz="1600" dirty="0">
                <a:ea typeface="仿宋" panose="02010609060101010101" pitchFamily="49" charset="-122"/>
              </a:rPr>
              <a:t>类网页）</a:t>
            </a:r>
            <a:endParaRPr lang="en-US" altLang="zh-CN" sz="1600" dirty="0">
              <a:effectLst/>
              <a:ea typeface="仿宋" panose="02010609060101010101" pitchFamily="49" charset="-122"/>
            </a:endParaRPr>
          </a:p>
          <a:p>
            <a:pPr marL="1143000" lvl="2" indent="-228600" algn="just">
              <a:buFont typeface="+mj-lt"/>
              <a:buAutoNum type="romanLcPeriod"/>
            </a:pPr>
            <a:r>
              <a:rPr lang="zh-CN" altLang="zh-CN" sz="1600" dirty="0">
                <a:effectLst/>
                <a:ea typeface="仿宋" panose="02010609060101010101" pitchFamily="49" charset="-122"/>
              </a:rPr>
              <a:t>爬取目标网页截图（标出数据区域）</a:t>
            </a:r>
            <a:endParaRPr lang="zh-CN" altLang="zh-CN" sz="1600" dirty="0">
              <a:effectLst/>
            </a:endParaRPr>
          </a:p>
          <a:p>
            <a:pPr marL="1143000" lvl="2" indent="-228600" algn="just">
              <a:buFont typeface="+mj-lt"/>
              <a:buAutoNum type="romanLcPeriod"/>
            </a:pPr>
            <a:r>
              <a:rPr lang="zh-CN" altLang="zh-CN" sz="1600" dirty="0">
                <a:effectLst/>
                <a:ea typeface="仿宋" panose="02010609060101010101" pitchFamily="49" charset="-122"/>
              </a:rPr>
              <a:t>源代码分析（标出数据区域），可以用截图展示</a:t>
            </a:r>
            <a:endParaRPr lang="zh-CN" altLang="zh-CN" sz="1600" dirty="0">
              <a:effectLst/>
            </a:endParaRPr>
          </a:p>
          <a:p>
            <a:pPr marL="742950" lvl="1" indent="-285750" algn="just">
              <a:buFont typeface="+mj-lt"/>
              <a:buAutoNum type="alphaLcParenR"/>
            </a:pPr>
            <a:r>
              <a:rPr lang="zh-CN" altLang="zh-CN" sz="1600" dirty="0">
                <a:effectLst/>
                <a:ea typeface="仿宋" panose="02010609060101010101" pitchFamily="49" charset="-122"/>
              </a:rPr>
              <a:t>工作思路</a:t>
            </a:r>
            <a:endParaRPr lang="zh-CN" altLang="zh-CN" sz="1600" dirty="0">
              <a:effectLst/>
            </a:endParaRPr>
          </a:p>
          <a:p>
            <a:pPr marL="742950" lvl="1" indent="-285750" algn="just">
              <a:buFont typeface="+mj-lt"/>
              <a:buAutoNum type="alphaLcParenR"/>
            </a:pPr>
            <a:r>
              <a:rPr lang="zh-CN" altLang="zh-CN" sz="1600" dirty="0">
                <a:effectLst/>
                <a:ea typeface="仿宋" panose="02010609060101010101" pitchFamily="49" charset="-122"/>
              </a:rPr>
              <a:t>源代码分析</a:t>
            </a:r>
            <a:endParaRPr lang="zh-CN" altLang="zh-CN" sz="1600" dirty="0">
              <a:effectLst/>
            </a:endParaRPr>
          </a:p>
          <a:p>
            <a:pPr marL="342900" lvl="0" indent="-342900" algn="just">
              <a:buFont typeface="+mj-ea"/>
              <a:buAutoNum type="ea1JpnKorPlain"/>
            </a:pPr>
            <a:r>
              <a:rPr lang="zh-CN" altLang="zh-CN" sz="1600" dirty="0">
                <a:effectLst/>
                <a:ea typeface="仿宋" panose="02010609060101010101" pitchFamily="49" charset="-122"/>
              </a:rPr>
              <a:t>爬取数据</a:t>
            </a:r>
            <a:endParaRPr lang="zh-CN" altLang="zh-CN" sz="1600" dirty="0">
              <a:effectLst/>
            </a:endParaRPr>
          </a:p>
          <a:p>
            <a:pPr marL="742950" lvl="1" indent="-285750" algn="just">
              <a:buFont typeface="+mj-lt"/>
              <a:buAutoNum type="alphaLcParenR"/>
            </a:pPr>
            <a:r>
              <a:rPr lang="zh-CN" altLang="zh-CN" sz="1600" dirty="0">
                <a:effectLst/>
                <a:ea typeface="仿宋" panose="02010609060101010101" pitchFamily="49" charset="-122"/>
              </a:rPr>
              <a:t>保存格式</a:t>
            </a:r>
            <a:endParaRPr lang="zh-CN" altLang="zh-CN" sz="1600" dirty="0">
              <a:effectLst/>
            </a:endParaRPr>
          </a:p>
          <a:p>
            <a:pPr marL="742950" lvl="1" indent="-285750" algn="just">
              <a:buFont typeface="+mj-lt"/>
              <a:buAutoNum type="alphaLcParenR"/>
            </a:pPr>
            <a:r>
              <a:rPr lang="zh-CN" altLang="zh-CN" sz="1600" dirty="0">
                <a:effectLst/>
                <a:ea typeface="仿宋" panose="02010609060101010101" pitchFamily="49" charset="-122"/>
              </a:rPr>
              <a:t>数据量大小， 尽量多爬取数据</a:t>
            </a:r>
            <a:endParaRPr lang="zh-CN" altLang="zh-CN" sz="1600" dirty="0">
              <a:effectLst/>
            </a:endParaRPr>
          </a:p>
          <a:p>
            <a:pPr indent="304800" algn="just"/>
            <a:r>
              <a:rPr lang="zh-CN" altLang="zh-CN" sz="16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</a:rPr>
              <a:t>附件</a:t>
            </a:r>
            <a:r>
              <a:rPr lang="en-US" altLang="zh-CN" sz="16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</a:rPr>
              <a:t>1</a:t>
            </a:r>
            <a:r>
              <a:rPr lang="zh-CN" altLang="zh-CN" sz="16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</a:rPr>
              <a:t>：</a:t>
            </a:r>
            <a:r>
              <a:rPr lang="zh-CN" altLang="en-US" sz="16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</a:rPr>
              <a:t>实验</a:t>
            </a:r>
            <a:r>
              <a:rPr lang="en-US" altLang="zh-CN" sz="16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</a:rPr>
              <a:t>1</a:t>
            </a:r>
            <a:r>
              <a:rPr lang="zh-CN" altLang="zh-CN" sz="16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</a:rPr>
              <a:t>爬取的数据文件</a:t>
            </a:r>
            <a:r>
              <a:rPr lang="zh-CN" altLang="zh-CN" sz="1800" b="1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1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txt</a:t>
            </a:r>
            <a:r>
              <a:rPr lang="zh-CN" altLang="zh-CN" sz="1800" b="1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或者</a:t>
            </a:r>
            <a:r>
              <a:rPr lang="en-US" altLang="zh-CN" sz="1800" b="1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CSV</a:t>
            </a:r>
            <a:r>
              <a:rPr lang="zh-CN" altLang="zh-CN" sz="1800" b="1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格式）</a:t>
            </a:r>
            <a:r>
              <a:rPr lang="zh-CN" altLang="zh-CN" sz="16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</a:rPr>
              <a:t>，</a:t>
            </a:r>
            <a:endParaRPr lang="en-US" altLang="zh-CN" sz="1600" kern="100" dirty="0">
              <a:effectLst/>
              <a:latin typeface="Calibri" panose="020F0502020204030204" pitchFamily="34" charset="0"/>
              <a:ea typeface="仿宋" panose="02010609060101010101" pitchFamily="49" charset="-122"/>
            </a:endParaRPr>
          </a:p>
          <a:p>
            <a:pPr indent="304800" algn="just"/>
            <a:r>
              <a:rPr lang="zh-CN" altLang="en-US" sz="16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</a:rPr>
              <a:t>附件</a:t>
            </a:r>
            <a:r>
              <a:rPr lang="en-US" altLang="zh-CN" sz="1600" kern="100" dirty="0">
                <a:latin typeface="Calibri" panose="020F0502020204030204" pitchFamily="34" charset="0"/>
                <a:ea typeface="仿宋" panose="02010609060101010101" pitchFamily="49" charset="-122"/>
              </a:rPr>
              <a:t>2</a:t>
            </a:r>
            <a:r>
              <a:rPr lang="en-US" altLang="zh-CN" sz="16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</a:rPr>
              <a:t>:    </a:t>
            </a:r>
            <a:r>
              <a:rPr lang="zh-CN" altLang="en-US" sz="16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</a:rPr>
              <a:t>实验</a:t>
            </a:r>
            <a:r>
              <a:rPr lang="en-US" altLang="zh-CN" sz="16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</a:rPr>
              <a:t>1 </a:t>
            </a:r>
            <a:r>
              <a:rPr lang="zh-CN" altLang="zh-CN" sz="1600" kern="100" dirty="0">
                <a:effectLst/>
                <a:latin typeface="Calibri" panose="020F0502020204030204" pitchFamily="34" charset="0"/>
                <a:ea typeface="仿宋" panose="02010609060101010101" pitchFamily="49" charset="-122"/>
              </a:rPr>
              <a:t>源代码</a:t>
            </a:r>
            <a:endParaRPr lang="zh-CN" altLang="zh-CN" sz="1600" kern="100" dirty="0">
              <a:effectLst/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4281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b="1" dirty="0"/>
              <a:t>实验二 ：克服反爬虫障碍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【实验要求】</a:t>
            </a:r>
          </a:p>
          <a:p>
            <a:pPr lvl="1"/>
            <a:r>
              <a:rPr lang="zh-CN" altLang="zh-CN" dirty="0"/>
              <a:t>选择具有反爬虫障碍的网站为目标</a:t>
            </a:r>
            <a:endParaRPr lang="en-US" altLang="zh-CN" dirty="0"/>
          </a:p>
          <a:p>
            <a:pPr lvl="2"/>
            <a:r>
              <a:rPr lang="zh-CN" altLang="en-US" dirty="0"/>
              <a:t>不要选择封锁</a:t>
            </a:r>
            <a:r>
              <a:rPr lang="en-US" altLang="zh-CN" dirty="0"/>
              <a:t>IP</a:t>
            </a:r>
            <a:r>
              <a:rPr lang="zh-CN" altLang="en-US" dirty="0"/>
              <a:t>的网站：百度，豆瓣</a:t>
            </a:r>
            <a:endParaRPr lang="en-US" altLang="zh-CN" dirty="0"/>
          </a:p>
          <a:p>
            <a:pPr lvl="3"/>
            <a:r>
              <a:rPr lang="zh-CN" altLang="en-US" dirty="0"/>
              <a:t>提前百度一下</a:t>
            </a:r>
            <a:endParaRPr lang="en-US" altLang="zh-CN" dirty="0"/>
          </a:p>
          <a:p>
            <a:pPr lvl="2"/>
            <a:r>
              <a:rPr lang="zh-CN" altLang="en-US" dirty="0"/>
              <a:t>不要使用爬虫</a:t>
            </a:r>
            <a:r>
              <a:rPr lang="en-US" altLang="zh-CN" dirty="0"/>
              <a:t>app, </a:t>
            </a:r>
            <a:r>
              <a:rPr lang="zh-CN" altLang="en-US" dirty="0"/>
              <a:t>必须自己编写爬虫代码</a:t>
            </a:r>
            <a:endParaRPr lang="en-US" altLang="zh-CN" dirty="0"/>
          </a:p>
          <a:p>
            <a:pPr lvl="1"/>
            <a:r>
              <a:rPr lang="zh-CN" altLang="zh-CN" dirty="0"/>
              <a:t>分析网站的反爬虫障碍</a:t>
            </a:r>
          </a:p>
          <a:p>
            <a:pPr lvl="1"/>
            <a:r>
              <a:rPr lang="zh-CN" altLang="zh-CN" dirty="0"/>
              <a:t>编写爬虫软件，克服障碍获取相应的数据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报告内容要求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lvl="0"/>
            <a:r>
              <a:rPr lang="zh-CN" altLang="zh-CN" dirty="0"/>
              <a:t>目标网站分析</a:t>
            </a:r>
            <a:endParaRPr lang="zh-CN" altLang="zh-CN" sz="2400" dirty="0"/>
          </a:p>
          <a:p>
            <a:pPr lvl="1"/>
            <a:r>
              <a:rPr lang="zh-CN" altLang="zh-CN" dirty="0"/>
              <a:t>网站名称 </a:t>
            </a:r>
            <a:r>
              <a:rPr lang="en-US" altLang="zh-CN" dirty="0"/>
              <a:t>URL </a:t>
            </a:r>
            <a:endParaRPr lang="en-US" altLang="zh-CN" sz="2000" dirty="0"/>
          </a:p>
          <a:p>
            <a:pPr lvl="1"/>
            <a:r>
              <a:rPr lang="zh-CN" altLang="zh-CN" dirty="0"/>
              <a:t>该网站采用反爬虫技术：用户登录？ </a:t>
            </a:r>
            <a:r>
              <a:rPr lang="en-US" altLang="zh-CN" dirty="0"/>
              <a:t>Cookies</a:t>
            </a:r>
            <a:r>
              <a:rPr lang="zh-CN" altLang="zh-CN" dirty="0"/>
              <a:t>？</a:t>
            </a:r>
            <a:r>
              <a:rPr lang="en-US" altLang="zh-CN" dirty="0"/>
              <a:t> AJAX</a:t>
            </a:r>
            <a:r>
              <a:rPr lang="zh-CN" altLang="zh-CN" dirty="0"/>
              <a:t>（例如需要点击翻页）？ 验证码图片识别</a:t>
            </a:r>
            <a:r>
              <a:rPr lang="en-US" altLang="zh-CN" dirty="0"/>
              <a:t>?   FONT-FACE?</a:t>
            </a:r>
          </a:p>
          <a:p>
            <a:pPr lvl="1"/>
            <a:r>
              <a:rPr lang="zh-CN" altLang="en-US" sz="2700" dirty="0"/>
              <a:t>展示网站的反爬虫存在，</a:t>
            </a:r>
            <a:r>
              <a:rPr lang="zh-CN" altLang="zh-CN" sz="2700" dirty="0"/>
              <a:t> （可以通过文字和相应截图进行说明）</a:t>
            </a:r>
          </a:p>
          <a:p>
            <a:pPr lvl="0"/>
            <a:r>
              <a:rPr lang="zh-CN" altLang="zh-CN" dirty="0"/>
              <a:t>所使用开发工具</a:t>
            </a:r>
            <a:endParaRPr lang="zh-CN" altLang="zh-CN" sz="2400" dirty="0"/>
          </a:p>
          <a:p>
            <a:pPr lvl="1"/>
            <a:r>
              <a:rPr lang="zh-CN" altLang="zh-CN" dirty="0"/>
              <a:t>开发语言</a:t>
            </a:r>
            <a:endParaRPr lang="zh-CN" altLang="zh-CN" sz="2000" dirty="0"/>
          </a:p>
          <a:p>
            <a:pPr lvl="1"/>
            <a:r>
              <a:rPr lang="zh-CN" altLang="zh-CN" dirty="0"/>
              <a:t>使用的模块，工具</a:t>
            </a:r>
            <a:endParaRPr lang="zh-CN" altLang="zh-CN" sz="2000" dirty="0"/>
          </a:p>
          <a:p>
            <a:pPr lvl="0"/>
            <a:r>
              <a:rPr lang="zh-CN" altLang="zh-CN" dirty="0"/>
              <a:t>操作过程</a:t>
            </a:r>
            <a:endParaRPr lang="zh-CN" altLang="zh-CN" sz="2400" dirty="0"/>
          </a:p>
          <a:p>
            <a:pPr lvl="1"/>
            <a:r>
              <a:rPr lang="zh-CN" altLang="zh-CN" dirty="0"/>
              <a:t>工作思路</a:t>
            </a:r>
            <a:endParaRPr lang="zh-CN" altLang="zh-CN" sz="2000" dirty="0"/>
          </a:p>
          <a:p>
            <a:pPr lvl="1"/>
            <a:r>
              <a:rPr lang="zh-CN" altLang="en-US" sz="2700" dirty="0"/>
              <a:t>源代码分析</a:t>
            </a:r>
            <a:endParaRPr lang="zh-CN" altLang="zh-CN" sz="2700" dirty="0"/>
          </a:p>
          <a:p>
            <a:pPr lvl="0"/>
            <a:r>
              <a:rPr lang="zh-CN" altLang="zh-CN" dirty="0"/>
              <a:t>爬取数据</a:t>
            </a:r>
            <a:r>
              <a:rPr lang="en-US" altLang="zh-CN" dirty="0"/>
              <a:t>   </a:t>
            </a:r>
            <a:r>
              <a:rPr lang="zh-CN" altLang="en-US" dirty="0"/>
              <a:t>（与实验</a:t>
            </a:r>
            <a:r>
              <a:rPr lang="en-US" altLang="zh-CN" dirty="0"/>
              <a:t>1</a:t>
            </a:r>
            <a:r>
              <a:rPr lang="zh-CN" altLang="en-US" dirty="0"/>
              <a:t>目标网站一致的话，只有说明就好。）</a:t>
            </a:r>
            <a:endParaRPr lang="zh-CN" altLang="zh-CN" sz="2400" dirty="0"/>
          </a:p>
          <a:p>
            <a:pPr lvl="1"/>
            <a:r>
              <a:rPr lang="zh-CN" altLang="zh-CN" dirty="0"/>
              <a:t>保存格式</a:t>
            </a:r>
            <a:endParaRPr lang="zh-CN" altLang="zh-CN" sz="2000" dirty="0"/>
          </a:p>
          <a:p>
            <a:pPr lvl="1"/>
            <a:r>
              <a:rPr lang="zh-CN" altLang="zh-CN" dirty="0"/>
              <a:t>数据量大小</a:t>
            </a:r>
            <a:endParaRPr lang="zh-CN" altLang="zh-CN" sz="2000" dirty="0"/>
          </a:p>
          <a:p>
            <a:r>
              <a:rPr lang="zh-CN" altLang="zh-CN" dirty="0"/>
              <a:t>附件： </a:t>
            </a:r>
            <a:endParaRPr lang="en-US" altLang="zh-CN" dirty="0"/>
          </a:p>
          <a:p>
            <a:pPr lvl="1"/>
            <a:r>
              <a:rPr lang="zh-CN" altLang="en-US" dirty="0"/>
              <a:t>附件</a:t>
            </a:r>
            <a:r>
              <a:rPr lang="en-US" altLang="zh-CN" dirty="0"/>
              <a:t>3</a:t>
            </a:r>
            <a:r>
              <a:rPr lang="zh-CN" altLang="en-US" dirty="0"/>
              <a:t>：</a:t>
            </a:r>
            <a:r>
              <a:rPr lang="zh-CN" altLang="zh-CN" dirty="0"/>
              <a:t>爬取的数据文件</a:t>
            </a:r>
            <a:r>
              <a:rPr lang="zh-CN" altLang="en-US" dirty="0"/>
              <a:t>（与实验</a:t>
            </a:r>
            <a:r>
              <a:rPr lang="en-US" altLang="zh-CN" dirty="0"/>
              <a:t>1</a:t>
            </a:r>
            <a:r>
              <a:rPr lang="zh-CN" altLang="en-US" dirty="0"/>
              <a:t>目标网站一致的话，提交一个即可）</a:t>
            </a:r>
            <a:endParaRPr lang="en-US" altLang="zh-CN" dirty="0"/>
          </a:p>
          <a:p>
            <a:pPr lvl="1"/>
            <a:r>
              <a:rPr lang="zh-CN" altLang="en-US" sz="2700" dirty="0"/>
              <a:t>附件</a:t>
            </a:r>
            <a:r>
              <a:rPr lang="en-US" altLang="zh-CN" sz="2700" dirty="0"/>
              <a:t>4</a:t>
            </a:r>
            <a:r>
              <a:rPr lang="zh-CN" altLang="en-US" sz="2700" dirty="0"/>
              <a:t>：实验</a:t>
            </a:r>
            <a:r>
              <a:rPr lang="en-US" altLang="zh-CN" sz="2700" dirty="0"/>
              <a:t>2</a:t>
            </a:r>
            <a:r>
              <a:rPr lang="zh-CN" altLang="en-US" sz="2700" dirty="0"/>
              <a:t>源代码</a:t>
            </a:r>
            <a:endParaRPr lang="zh-CN" altLang="zh-CN" sz="2700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11115E-BA88-4A3A-AAEE-6A1439AA6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实验</a:t>
            </a:r>
            <a:r>
              <a:rPr lang="en-US" altLang="zh-CN" dirty="0"/>
              <a:t>3</a:t>
            </a:r>
            <a:br>
              <a:rPr lang="en-US" altLang="zh-CN" dirty="0"/>
            </a:br>
            <a:r>
              <a:rPr lang="en-US" altLang="zh-CN" dirty="0"/>
              <a:t> WEB</a:t>
            </a:r>
            <a:r>
              <a:rPr lang="zh-CN" altLang="en-US" dirty="0"/>
              <a:t>数据的应用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F79870-8C29-44B2-B247-60C1908F6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在实验</a:t>
            </a:r>
            <a:r>
              <a:rPr lang="en-US" altLang="zh-CN" dirty="0"/>
              <a:t>1,2</a:t>
            </a:r>
            <a:r>
              <a:rPr lang="zh-CN" altLang="en-US" dirty="0"/>
              <a:t>获得的数据上进行相应处理</a:t>
            </a:r>
            <a:endParaRPr lang="en-US" altLang="zh-CN" dirty="0"/>
          </a:p>
          <a:p>
            <a:pPr algn="just"/>
            <a:r>
              <a:rPr lang="zh-CN" altLang="en-US" dirty="0"/>
              <a:t>提交：</a:t>
            </a:r>
            <a:r>
              <a:rPr lang="zh-CN" altLang="zh-CN" dirty="0"/>
              <a:t>实验报告</a:t>
            </a:r>
          </a:p>
          <a:p>
            <a:pPr algn="just"/>
            <a:r>
              <a:rPr lang="zh-CN" altLang="en-US" dirty="0"/>
              <a:t>提交：</a:t>
            </a:r>
            <a:r>
              <a:rPr lang="zh-CN" altLang="zh-CN" dirty="0"/>
              <a:t>实验</a:t>
            </a:r>
            <a:r>
              <a:rPr lang="zh-CN" altLang="en-US" dirty="0"/>
              <a:t>代码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186877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实验</a:t>
            </a:r>
            <a:r>
              <a:rPr lang="en-US" altLang="zh-CN" dirty="0"/>
              <a:t>3   </a:t>
            </a:r>
            <a:r>
              <a:rPr lang="zh-CN" altLang="en-US" dirty="0"/>
              <a:t>可视化爬取的数据（</a:t>
            </a:r>
            <a:r>
              <a:rPr lang="en-US" altLang="zh-CN" dirty="0"/>
              <a:t>20</a:t>
            </a:r>
            <a:r>
              <a:rPr lang="zh-CN" altLang="en-US" dirty="0"/>
              <a:t>学时）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对实验</a:t>
            </a:r>
            <a:r>
              <a:rPr lang="en-US" altLang="zh-CN" dirty="0"/>
              <a:t>1</a:t>
            </a:r>
            <a:r>
              <a:rPr lang="zh-CN" altLang="en-US" dirty="0"/>
              <a:t>爬取的数据进行分析。</a:t>
            </a:r>
            <a:endParaRPr lang="en-US" altLang="zh-CN" dirty="0"/>
          </a:p>
          <a:p>
            <a:pPr lvl="1"/>
            <a:r>
              <a:rPr lang="zh-CN" altLang="en-US" dirty="0"/>
              <a:t>选择结构化数据或者文本</a:t>
            </a:r>
          </a:p>
          <a:p>
            <a:pPr lvl="1"/>
            <a:r>
              <a:rPr lang="zh-CN" altLang="zh-CN" dirty="0"/>
              <a:t>若实验</a:t>
            </a:r>
            <a:r>
              <a:rPr lang="en-US" altLang="zh-CN" dirty="0"/>
              <a:t>1</a:t>
            </a:r>
            <a:r>
              <a:rPr lang="zh-CN" altLang="zh-CN" dirty="0"/>
              <a:t>，</a:t>
            </a:r>
            <a:r>
              <a:rPr lang="en-US" altLang="zh-CN" dirty="0"/>
              <a:t>2</a:t>
            </a:r>
            <a:r>
              <a:rPr lang="zh-CN" altLang="zh-CN" dirty="0"/>
              <a:t>失败，可以选择现成的数据集</a:t>
            </a:r>
            <a:endParaRPr lang="en-US" altLang="zh-CN" dirty="0"/>
          </a:p>
          <a:p>
            <a:r>
              <a:rPr lang="zh-CN" altLang="en-US" dirty="0"/>
              <a:t>设计简单的</a:t>
            </a:r>
            <a:r>
              <a:rPr lang="en-US" dirty="0"/>
              <a:t>web </a:t>
            </a:r>
            <a:r>
              <a:rPr lang="zh-CN" altLang="en-US" dirty="0"/>
              <a:t>网站</a:t>
            </a:r>
          </a:p>
          <a:p>
            <a:r>
              <a:rPr lang="zh-CN" altLang="en-US" dirty="0"/>
              <a:t>能够采用各种可视化方法展示数据分析的结果</a:t>
            </a:r>
            <a:endParaRPr lang="en-US" altLang="zh-C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C0CCF7-E287-408A-BF05-B7C378949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5141EE-632C-4973-B0B5-4F0223FBD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例子：</a:t>
            </a:r>
            <a:endParaRPr lang="en-US" altLang="zh-CN" dirty="0"/>
          </a:p>
          <a:p>
            <a:pPr lvl="1"/>
            <a:r>
              <a:rPr lang="zh-CN" altLang="en-US" dirty="0"/>
              <a:t>豆瓣电影，可以展示某个电影参与评价人员的男女比例，电影评价的词云之类</a:t>
            </a:r>
            <a:endParaRPr lang="en-US" altLang="zh-CN" dirty="0"/>
          </a:p>
          <a:p>
            <a:pPr lvl="1"/>
            <a:r>
              <a:rPr lang="zh-CN" altLang="en-US" dirty="0"/>
              <a:t>电商数据，可以展示不同品牌的价格比较，评价人数，选择不同时间多次爬取，可以展示价格波动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91344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0AA8DA-9CD4-46F7-AFD9-6A5CD0928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报告内容要求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BFE2FE-6005-4F7E-A96E-9E9D9958B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lvl="0"/>
            <a:r>
              <a:rPr lang="zh-CN" altLang="zh-CN" dirty="0"/>
              <a:t>网站</a:t>
            </a:r>
            <a:r>
              <a:rPr lang="zh-CN" altLang="en-US" dirty="0"/>
              <a:t>功能介绍</a:t>
            </a:r>
            <a:endParaRPr lang="en-US" altLang="zh-CN" dirty="0"/>
          </a:p>
          <a:p>
            <a:pPr lvl="1"/>
            <a:r>
              <a:rPr lang="zh-CN" altLang="en-US" sz="2700" dirty="0"/>
              <a:t>数据来源（对应的网站）</a:t>
            </a:r>
            <a:endParaRPr lang="en-US" altLang="zh-CN" sz="2700" dirty="0"/>
          </a:p>
          <a:p>
            <a:pPr lvl="1"/>
            <a:r>
              <a:rPr lang="zh-CN" altLang="en-US" sz="2700" dirty="0"/>
              <a:t>数据的类型</a:t>
            </a:r>
            <a:endParaRPr lang="en-US" altLang="zh-CN" sz="2700" dirty="0"/>
          </a:p>
          <a:p>
            <a:pPr lvl="2"/>
            <a:r>
              <a:rPr lang="zh-CN" altLang="en-US" sz="2700" dirty="0"/>
              <a:t>结构化数据的数据字典</a:t>
            </a:r>
            <a:endParaRPr lang="en-US" altLang="zh-CN" sz="2700" dirty="0"/>
          </a:p>
          <a:p>
            <a:pPr lvl="2"/>
            <a:r>
              <a:rPr lang="zh-CN" altLang="en-US" sz="2700" dirty="0"/>
              <a:t>文本型</a:t>
            </a:r>
            <a:endParaRPr lang="zh-CN" altLang="zh-CN" sz="2700" dirty="0"/>
          </a:p>
          <a:p>
            <a:pPr lvl="1"/>
            <a:r>
              <a:rPr lang="zh-CN" altLang="en-US" sz="2700" dirty="0"/>
              <a:t>数据的存储格式</a:t>
            </a:r>
            <a:endParaRPr lang="en-US" altLang="zh-CN" sz="2700" dirty="0"/>
          </a:p>
          <a:p>
            <a:pPr lvl="1"/>
            <a:r>
              <a:rPr lang="zh-CN" altLang="en-US" sz="2700" dirty="0"/>
              <a:t>数据量大小</a:t>
            </a:r>
            <a:endParaRPr lang="en-US" altLang="zh-CN" sz="2700" dirty="0"/>
          </a:p>
          <a:p>
            <a:pPr lvl="2"/>
            <a:r>
              <a:rPr lang="zh-CN" altLang="en-US" sz="2700" dirty="0"/>
              <a:t>多少条记录</a:t>
            </a:r>
            <a:endParaRPr lang="en-US" altLang="zh-CN" sz="2700" dirty="0"/>
          </a:p>
          <a:p>
            <a:pPr lvl="2"/>
            <a:r>
              <a:rPr lang="zh-CN" altLang="en-US" sz="2700" dirty="0"/>
              <a:t>文本存储量</a:t>
            </a:r>
            <a:endParaRPr lang="en-US" altLang="zh-CN" sz="2700" dirty="0"/>
          </a:p>
          <a:p>
            <a:pPr lvl="1"/>
            <a:r>
              <a:rPr lang="zh-CN" altLang="en-US" dirty="0"/>
              <a:t>可视化的目标</a:t>
            </a:r>
            <a:endParaRPr lang="en-US" altLang="zh-CN" dirty="0"/>
          </a:p>
          <a:p>
            <a:pPr lvl="2"/>
            <a:r>
              <a:rPr lang="zh-CN" altLang="en-US" dirty="0"/>
              <a:t>文字描述</a:t>
            </a:r>
            <a:endParaRPr lang="en-US" altLang="zh-CN" dirty="0"/>
          </a:p>
          <a:p>
            <a:pPr lvl="2"/>
            <a:r>
              <a:rPr lang="zh-CN" altLang="en-US" dirty="0"/>
              <a:t>展示过程的截图</a:t>
            </a:r>
            <a:endParaRPr lang="en-US" altLang="zh-CN" dirty="0"/>
          </a:p>
          <a:p>
            <a:pPr lvl="2"/>
            <a:r>
              <a:rPr lang="zh-CN" altLang="zh-CN" dirty="0"/>
              <a:t>图表名称，展示目的或者意义，对应数据，同目的可备选图表</a:t>
            </a:r>
            <a:endParaRPr lang="en-US" altLang="zh-CN" dirty="0"/>
          </a:p>
          <a:p>
            <a:pPr lvl="0"/>
            <a:r>
              <a:rPr lang="zh-CN" altLang="zh-CN" sz="3300" dirty="0"/>
              <a:t>开发工具</a:t>
            </a:r>
          </a:p>
          <a:p>
            <a:pPr lvl="1"/>
            <a:r>
              <a:rPr lang="zh-CN" altLang="en-US" dirty="0"/>
              <a:t>网站</a:t>
            </a:r>
            <a:r>
              <a:rPr lang="zh-CN" altLang="zh-CN" dirty="0"/>
              <a:t>开发语言</a:t>
            </a:r>
            <a:r>
              <a:rPr lang="zh-CN" altLang="en-US" sz="2000" dirty="0"/>
              <a:t>，</a:t>
            </a:r>
            <a:r>
              <a:rPr lang="zh-CN" altLang="zh-CN" dirty="0"/>
              <a:t>使用的模块，工具</a:t>
            </a:r>
            <a:endParaRPr lang="zh-CN" altLang="zh-CN" sz="2000" dirty="0"/>
          </a:p>
          <a:p>
            <a:pPr lvl="1"/>
            <a:r>
              <a:rPr lang="zh-CN" altLang="en-US" dirty="0"/>
              <a:t>可视化工作  使用的模块</a:t>
            </a:r>
            <a:endParaRPr lang="en-US" altLang="zh-CN" dirty="0"/>
          </a:p>
          <a:p>
            <a:r>
              <a:rPr lang="zh-CN" altLang="zh-CN" dirty="0"/>
              <a:t>附件</a:t>
            </a:r>
            <a:r>
              <a:rPr lang="en-US" altLang="zh-CN" dirty="0"/>
              <a:t>5</a:t>
            </a:r>
            <a:r>
              <a:rPr lang="zh-CN" altLang="zh-CN" dirty="0"/>
              <a:t>： </a:t>
            </a:r>
            <a:r>
              <a:rPr lang="en-US" altLang="zh-CN" dirty="0"/>
              <a:t>project</a:t>
            </a:r>
            <a:r>
              <a:rPr lang="zh-CN" altLang="zh-CN" dirty="0"/>
              <a:t>压缩包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7195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825</TotalTime>
  <Words>664</Words>
  <Application>Microsoft Office PowerPoint</Application>
  <PresentationFormat>全屏显示(4:3)</PresentationFormat>
  <Paragraphs>86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仿宋</vt:lpstr>
      <vt:lpstr>Arial</vt:lpstr>
      <vt:lpstr>Calibri</vt:lpstr>
      <vt:lpstr>Office 主题</vt:lpstr>
      <vt:lpstr>实验要求</vt:lpstr>
      <vt:lpstr>实验一 ：简单爬虫（6学时）</vt:lpstr>
      <vt:lpstr>实验一 ：简单爬虫</vt:lpstr>
      <vt:lpstr>报告内容要求</vt:lpstr>
      <vt:lpstr>实验二 ：克服反爬虫障碍</vt:lpstr>
      <vt:lpstr>报告内容要求</vt:lpstr>
      <vt:lpstr>实验3  WEB数据的应用</vt:lpstr>
      <vt:lpstr>实验3   可视化爬取的数据（20学时）</vt:lpstr>
      <vt:lpstr>PowerPoint 演示文稿</vt:lpstr>
      <vt:lpstr>报告内容要求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实验要求</dc:title>
  <dc:creator>lianli</dc:creator>
  <cp:lastModifiedBy>民杰 王</cp:lastModifiedBy>
  <cp:revision>50</cp:revision>
  <dcterms:created xsi:type="dcterms:W3CDTF">2018-04-03T08:37:00Z</dcterms:created>
  <dcterms:modified xsi:type="dcterms:W3CDTF">2026-05-23T12:03:49Z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2052-10.1.0.7224</vt:lpwstr>
  </property>
</Properties>
</file>